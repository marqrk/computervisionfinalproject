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Inter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1d9703c81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b1d9703c81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b1d9703c81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b1d9703c81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b1d9703c81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b1d9703c81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b1d9703c81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b1d9703c81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b1d9703c81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b1d9703c81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b1d9703c81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b1d9703c81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1" name="Google Shape;361;p47"/>
          <p:cNvCxnSpPr/>
          <p:nvPr/>
        </p:nvCxnSpPr>
        <p:spPr>
          <a:xfrm>
            <a:off x="283850" y="14675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7"/>
          <p:cNvCxnSpPr/>
          <p:nvPr/>
        </p:nvCxnSpPr>
        <p:spPr>
          <a:xfrm>
            <a:off x="283850" y="8296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4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4" name="Google Shape;364;p47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Vision Final Project</a:t>
            </a:r>
            <a:endParaRPr/>
          </a:p>
        </p:txBody>
      </p:sp>
      <p:sp>
        <p:nvSpPr>
          <p:cNvPr id="365" name="Google Shape;365;p4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366" name="Google Shape;366;p4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367" name="Google Shape;367;p47"/>
          <p:cNvSpPr txBox="1"/>
          <p:nvPr>
            <p:ph idx="4" type="title"/>
          </p:nvPr>
        </p:nvSpPr>
        <p:spPr>
          <a:xfrm>
            <a:off x="288625" y="4778975"/>
            <a:ext cx="4227300" cy="8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your space for legal copy. State whether the information is confidential and how it's intended to be used.</a:t>
            </a:r>
            <a:endParaRPr/>
          </a:p>
        </p:txBody>
      </p:sp>
      <p:cxnSp>
        <p:nvCxnSpPr>
          <p:cNvPr id="368" name="Google Shape;368;p47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9" name="Google Shape;369;p47"/>
          <p:cNvSpPr txBox="1"/>
          <p:nvPr/>
        </p:nvSpPr>
        <p:spPr>
          <a:xfrm>
            <a:off x="2124525" y="3036300"/>
            <a:ext cx="4017300" cy="8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By Mark Bosmediano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8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</a:t>
            </a:r>
            <a:endParaRPr/>
          </a:p>
        </p:txBody>
      </p:sp>
      <p:sp>
        <p:nvSpPr>
          <p:cNvPr id="375" name="Google Shape;375;p4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4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48"/>
          <p:cNvSpPr txBox="1"/>
          <p:nvPr>
            <p:ph idx="4" type="title"/>
          </p:nvPr>
        </p:nvSpPr>
        <p:spPr>
          <a:xfrm>
            <a:off x="288625" y="4778975"/>
            <a:ext cx="4227300" cy="8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48"/>
          <p:cNvSpPr txBox="1"/>
          <p:nvPr/>
        </p:nvSpPr>
        <p:spPr>
          <a:xfrm>
            <a:off x="392000" y="1238775"/>
            <a:ext cx="7493400" cy="3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Cereal Box Detection Using Deep Learning</a:t>
            </a:r>
            <a:br>
              <a:rPr lang="en" sz="1600">
                <a:solidFill>
                  <a:schemeClr val="lt1"/>
                </a:solidFill>
              </a:rPr>
            </a:b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Binary object detection: cereal box vs background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Using YOLOv8-nano as the model</a:t>
            </a:r>
            <a:endParaRPr sz="16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600">
                <a:solidFill>
                  <a:schemeClr val="lt1"/>
                </a:solidFill>
              </a:rPr>
              <a:t>Given an image, identify all cereal boxes using bounding boxes</a:t>
            </a:r>
            <a:endParaRPr i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9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384" name="Google Shape;384;p49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9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49"/>
          <p:cNvSpPr txBox="1"/>
          <p:nvPr>
            <p:ph idx="4" type="title"/>
          </p:nvPr>
        </p:nvSpPr>
        <p:spPr>
          <a:xfrm>
            <a:off x="288625" y="4778975"/>
            <a:ext cx="4227300" cy="8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9"/>
          <p:cNvSpPr txBox="1"/>
          <p:nvPr/>
        </p:nvSpPr>
        <p:spPr>
          <a:xfrm>
            <a:off x="392000" y="1238775"/>
            <a:ext cx="7493400" cy="3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600">
                <a:solidFill>
                  <a:schemeClr val="lt1"/>
                </a:solidFill>
              </a:rPr>
              <a:t>Object detection is widely used in retail and inventory systems</a:t>
            </a:r>
            <a:br>
              <a:rPr b="1" lang="en" sz="1600">
                <a:solidFill>
                  <a:schemeClr val="lt1"/>
                </a:solidFill>
              </a:rPr>
            </a:br>
            <a:endParaRPr b="1" sz="16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600">
                <a:solidFill>
                  <a:schemeClr val="lt1"/>
                </a:solidFill>
              </a:rPr>
              <a:t>Detecting packaged goods on shelves is a realistic CV problem</a:t>
            </a:r>
            <a:br>
              <a:rPr b="1" lang="en" sz="1600">
                <a:solidFill>
                  <a:schemeClr val="lt1"/>
                </a:solidFill>
              </a:rPr>
            </a:br>
            <a:endParaRPr b="1" sz="16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600">
                <a:solidFill>
                  <a:schemeClr val="lt1"/>
                </a:solidFill>
              </a:rPr>
              <a:t>Cereal boxes are visually consistent but appear in cluttered scenes</a:t>
            </a:r>
            <a:endParaRPr b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en" sz="1100">
                <a:solidFill>
                  <a:schemeClr val="lt1"/>
                </a:solidFill>
              </a:rPr>
            </a:br>
            <a:endParaRPr i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0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393" name="Google Shape;393;p5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5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50"/>
          <p:cNvSpPr txBox="1"/>
          <p:nvPr>
            <p:ph idx="4" type="title"/>
          </p:nvPr>
        </p:nvSpPr>
        <p:spPr>
          <a:xfrm>
            <a:off x="288625" y="4778975"/>
            <a:ext cx="4227300" cy="8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50"/>
          <p:cNvSpPr txBox="1"/>
          <p:nvPr/>
        </p:nvSpPr>
        <p:spPr>
          <a:xfrm>
            <a:off x="392000" y="1238775"/>
            <a:ext cx="7493400" cy="3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600">
                <a:solidFill>
                  <a:schemeClr val="lt1"/>
                </a:solidFill>
              </a:rPr>
              <a:t>Most was from online database, Roboflow</a:t>
            </a:r>
            <a:br>
              <a:rPr b="1" lang="en" sz="1600">
                <a:solidFill>
                  <a:schemeClr val="lt1"/>
                </a:solidFill>
              </a:rPr>
            </a:br>
            <a:endParaRPr b="1" sz="16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600">
                <a:solidFill>
                  <a:schemeClr val="lt1"/>
                </a:solidFill>
              </a:rPr>
              <a:t>Single Class, cereal_box</a:t>
            </a:r>
            <a:br>
              <a:rPr b="1" lang="en" sz="1600">
                <a:solidFill>
                  <a:schemeClr val="lt1"/>
                </a:solidFill>
              </a:rPr>
            </a:br>
            <a:endParaRPr b="1" sz="16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600">
                <a:solidFill>
                  <a:schemeClr val="lt1"/>
                </a:solidFill>
              </a:rPr>
              <a:t>Also adding in personally taken pictures for robustness</a:t>
            </a:r>
            <a:endParaRPr b="1" sz="1600">
              <a:solidFill>
                <a:schemeClr val="lt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lphaLcPeriod"/>
            </a:pPr>
            <a:r>
              <a:rPr b="1" lang="en" sz="1600">
                <a:solidFill>
                  <a:schemeClr val="lt1"/>
                </a:solidFill>
              </a:rPr>
              <a:t>Hard Negative Examples</a:t>
            </a:r>
            <a:endParaRPr b="1" sz="1600">
              <a:solidFill>
                <a:schemeClr val="lt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lphaLcPeriod"/>
            </a:pPr>
            <a:r>
              <a:rPr b="1" lang="en" sz="1600">
                <a:solidFill>
                  <a:schemeClr val="lt1"/>
                </a:solidFill>
              </a:rPr>
              <a:t>Multiple Cereal Box Examples</a:t>
            </a:r>
            <a:br>
              <a:rPr b="1" lang="en" sz="1600">
                <a:solidFill>
                  <a:schemeClr val="lt1"/>
                </a:solidFill>
              </a:rPr>
            </a:br>
            <a:endParaRPr b="1" sz="16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600">
                <a:solidFill>
                  <a:schemeClr val="lt1"/>
                </a:solidFill>
              </a:rPr>
              <a:t>Cereal boxes are visually consistent but appear in cluttered scenes</a:t>
            </a:r>
            <a:endParaRPr b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en" sz="1100">
                <a:solidFill>
                  <a:schemeClr val="lt1"/>
                </a:solidFill>
              </a:rPr>
            </a:br>
            <a:endParaRPr i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1"/>
          <p:cNvSpPr txBox="1"/>
          <p:nvPr>
            <p:ph type="title"/>
          </p:nvPr>
        </p:nvSpPr>
        <p:spPr>
          <a:xfrm>
            <a:off x="283850" y="224400"/>
            <a:ext cx="69951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Metrics</a:t>
            </a:r>
            <a:endParaRPr/>
          </a:p>
        </p:txBody>
      </p:sp>
      <p:sp>
        <p:nvSpPr>
          <p:cNvPr id="402" name="Google Shape;402;p51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5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51"/>
          <p:cNvSpPr txBox="1"/>
          <p:nvPr>
            <p:ph idx="4" type="title"/>
          </p:nvPr>
        </p:nvSpPr>
        <p:spPr>
          <a:xfrm>
            <a:off x="288625" y="4778975"/>
            <a:ext cx="4227300" cy="8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51"/>
          <p:cNvSpPr txBox="1"/>
          <p:nvPr/>
        </p:nvSpPr>
        <p:spPr>
          <a:xfrm>
            <a:off x="392000" y="1238775"/>
            <a:ext cx="7493400" cy="3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600">
                <a:solidFill>
                  <a:schemeClr val="lt1"/>
                </a:solidFill>
              </a:rPr>
              <a:t>Precision</a:t>
            </a:r>
            <a:br>
              <a:rPr b="1" lang="en" sz="1600">
                <a:solidFill>
                  <a:schemeClr val="lt1"/>
                </a:solidFill>
              </a:rPr>
            </a:br>
            <a:endParaRPr b="1" sz="16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600">
                <a:solidFill>
                  <a:schemeClr val="lt1"/>
                </a:solidFill>
              </a:rPr>
              <a:t>Recall</a:t>
            </a:r>
            <a:br>
              <a:rPr b="1" lang="en" sz="1600">
                <a:solidFill>
                  <a:schemeClr val="lt1"/>
                </a:solidFill>
              </a:rPr>
            </a:br>
            <a:endParaRPr b="1" sz="16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600">
                <a:solidFill>
                  <a:schemeClr val="lt1"/>
                </a:solidFill>
              </a:rPr>
              <a:t>mAP@0.5</a:t>
            </a:r>
            <a:br>
              <a:rPr b="1" lang="en" sz="1600">
                <a:solidFill>
                  <a:schemeClr val="lt1"/>
                </a:solidFill>
              </a:rPr>
            </a:br>
            <a:endParaRPr b="1" sz="16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600">
                <a:solidFill>
                  <a:schemeClr val="lt1"/>
                </a:solidFill>
              </a:rPr>
              <a:t>mAP@0.5:0.95</a:t>
            </a:r>
            <a:br>
              <a:rPr b="1" lang="en" sz="1600">
                <a:solidFill>
                  <a:schemeClr val="lt1"/>
                </a:solidFill>
              </a:rPr>
            </a:br>
            <a:endParaRPr b="1" sz="16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600">
                <a:solidFill>
                  <a:schemeClr val="lt1"/>
                </a:solidFill>
              </a:rPr>
              <a:t>Qualitative evaluation on novel images</a:t>
            </a:r>
            <a:endParaRPr b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en" sz="1100">
                <a:solidFill>
                  <a:schemeClr val="lt1"/>
                </a:solidFill>
              </a:rPr>
            </a:br>
            <a:endParaRPr i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2"/>
          <p:cNvSpPr txBox="1"/>
          <p:nvPr>
            <p:ph type="title"/>
          </p:nvPr>
        </p:nvSpPr>
        <p:spPr>
          <a:xfrm>
            <a:off x="283850" y="224400"/>
            <a:ext cx="69951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411" name="Google Shape;411;p5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5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52"/>
          <p:cNvSpPr txBox="1"/>
          <p:nvPr>
            <p:ph idx="4" type="title"/>
          </p:nvPr>
        </p:nvSpPr>
        <p:spPr>
          <a:xfrm>
            <a:off x="288625" y="4778975"/>
            <a:ext cx="4227300" cy="8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52"/>
          <p:cNvSpPr txBox="1"/>
          <p:nvPr/>
        </p:nvSpPr>
        <p:spPr>
          <a:xfrm>
            <a:off x="392000" y="1238775"/>
            <a:ext cx="7493400" cy="3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600">
                <a:solidFill>
                  <a:schemeClr val="lt1"/>
                </a:solidFill>
              </a:rPr>
              <a:t>Bounding boxes are approximate due to label conversion</a:t>
            </a:r>
            <a:br>
              <a:rPr b="1" lang="en" sz="1600">
                <a:solidFill>
                  <a:schemeClr val="lt1"/>
                </a:solidFill>
              </a:rPr>
            </a:br>
            <a:endParaRPr b="1" sz="16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600">
                <a:solidFill>
                  <a:schemeClr val="lt1"/>
                </a:solidFill>
              </a:rPr>
              <a:t>Small test set size</a:t>
            </a:r>
            <a:br>
              <a:rPr b="1" lang="en" sz="1600">
                <a:solidFill>
                  <a:schemeClr val="lt1"/>
                </a:solidFill>
              </a:rPr>
            </a:br>
            <a:endParaRPr b="1" sz="16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600">
                <a:solidFill>
                  <a:schemeClr val="lt1"/>
                </a:solidFill>
              </a:rPr>
              <a:t>Performance depends on dataset quality</a:t>
            </a:r>
            <a:endParaRPr b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i="1" lang="en" sz="1100">
                <a:solidFill>
                  <a:schemeClr val="lt1"/>
                </a:solidFill>
              </a:rPr>
            </a:br>
            <a:endParaRPr i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5" name="Google Shape;415;p5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